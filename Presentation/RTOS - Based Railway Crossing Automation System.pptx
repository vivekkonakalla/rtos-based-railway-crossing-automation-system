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30"/>
  </p:notesMasterIdLst>
  <p:handoutMasterIdLst>
    <p:handoutMasterId r:id="rId31"/>
  </p:handoutMasterIdLst>
  <p:sldIdLst>
    <p:sldId id="285" r:id="rId5"/>
    <p:sldId id="293" r:id="rId6"/>
    <p:sldId id="265" r:id="rId7"/>
    <p:sldId id="298" r:id="rId8"/>
    <p:sldId id="319" r:id="rId9"/>
    <p:sldId id="318" r:id="rId10"/>
    <p:sldId id="330" r:id="rId11"/>
    <p:sldId id="331" r:id="rId12"/>
    <p:sldId id="257" r:id="rId13"/>
    <p:sldId id="306" r:id="rId14"/>
    <p:sldId id="305" r:id="rId15"/>
    <p:sldId id="304" r:id="rId16"/>
    <p:sldId id="308" r:id="rId17"/>
    <p:sldId id="307" r:id="rId18"/>
    <p:sldId id="294" r:id="rId19"/>
    <p:sldId id="310" r:id="rId20"/>
    <p:sldId id="309" r:id="rId21"/>
    <p:sldId id="320" r:id="rId22"/>
    <p:sldId id="327" r:id="rId23"/>
    <p:sldId id="326" r:id="rId24"/>
    <p:sldId id="321" r:id="rId25"/>
    <p:sldId id="329" r:id="rId26"/>
    <p:sldId id="328" r:id="rId27"/>
    <p:sldId id="317" r:id="rId28"/>
    <p:sldId id="26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413764-5AD9-E889-944D-1707A854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45D53-BE96-955D-B578-2BF8F356B7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D3793-52FB-891B-2A0C-91D892716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DAAB-C45C-E833-ECEB-14DCA0F17F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09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06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10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805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84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DDDC4-64E8-9034-6C98-53929085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41F6B-90BF-79A9-8D00-3F80411EB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78FC8-DA19-BED8-F7C1-2F25B15F8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78CA8-39DE-4474-F02D-AA58C0F16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430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1DBBE-BA7B-5191-B768-A2791125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37910-C002-BB15-E741-6064F80F0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3D3E0-D109-A0FB-10E1-53902280E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6A01D-AA00-BF57-EC32-CCD4B2A1D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552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9576-6D46-D4D6-231A-D1DB5627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642DF-F653-49EC-BC5A-182E8E38E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573DC-4ECC-5CF4-AD50-2B84FD265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5EEB0-805F-ADB8-7B99-5732572CA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339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861B-FF59-8CE4-DE72-1A0B7686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F5FB0-BAE0-2365-31B5-60A3582BD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DB6FA-2D3C-E0E9-519A-9C1C84D08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CFF92-C50B-FAA0-042E-7F3764197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981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905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1F80-0ADC-BC73-BF5D-6BF2090C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5AB77-B056-2C4B-5CE6-7E4BC64B6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0C943-9116-B85E-8E00-EFA9DDD9F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AF2CA-19B4-4947-B8CE-59FAE58A8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394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A07D-76B8-943E-1044-9F6B5FAF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A21DA-646D-BE31-5007-EDC2EB9EC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6F7F1-3B41-2D00-5E7A-EA3E2C1E3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74D45-E91E-2034-91FD-B64D14FB7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82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789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82A38-1B28-8710-8F8A-F963A9F93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E7740-86AF-2C73-48C2-E9A0B3B1D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C1EB1-AAE5-0103-6E89-D4899EA57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0F45E-FBA3-BCE8-4B6D-D45F7604C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946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FC6A5-7BF0-8E82-36A6-A2699F3B5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76C63-4F61-9138-93A7-D3AF16706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4D80C-B154-C375-D4B9-D7202E879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3C836-C91D-94A7-4737-AACB54210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116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33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FDD4A-8D1F-5699-052B-41557173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3EB03-82D5-1767-5BA9-A2745D861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56560-6E61-94A8-345C-000E7FDE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B7F53-38C4-F80D-FC5E-99B041991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06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38D1C-9A62-FBA9-A81F-00C53F73A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6C4C0-2667-4241-C953-11FE7689F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717FB-BF26-2845-446C-F694E7D16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D48A0-E408-6792-097E-5CB965651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278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979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9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A66DDD-7D9C-9641-30E9-932C5FD2D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40F8B-6B6E-1B1A-7CC7-F44CB188B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59A209-D12B-6E67-931A-5CB9E711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319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BCEE60A-6295-FCD1-542F-52EA50B3B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/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2E5EBF7-4D05-239B-0B70-F9AD5B56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/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14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E62E882-4E93-85DF-DE0B-6F64263A3B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9664698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9664698 w 12191999"/>
              <a:gd name="connsiteY3" fmla="*/ 6858000 h 6858000"/>
              <a:gd name="connsiteX4" fmla="*/ 0 w 12191999"/>
              <a:gd name="connsiteY4" fmla="*/ 0 h 6858000"/>
              <a:gd name="connsiteX5" fmla="*/ 2551176 w 12191999"/>
              <a:gd name="connsiteY5" fmla="*/ 0 h 6858000"/>
              <a:gd name="connsiteX6" fmla="*/ 2551176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664698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9664698" y="6858000"/>
                </a:lnTo>
                <a:close/>
                <a:moveTo>
                  <a:pt x="0" y="0"/>
                </a:moveTo>
                <a:lnTo>
                  <a:pt x="2551176" y="0"/>
                </a:lnTo>
                <a:lnTo>
                  <a:pt x="255117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7287"/>
            <a:ext cx="7156415" cy="3363427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5476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FCB7CBB1-8DA1-E416-2554-28C331D0A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/>
        </p:blipFill>
        <p:spPr>
          <a:xfrm rot="16200000">
            <a:off x="6976110" y="1642110"/>
            <a:ext cx="6858000" cy="357378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E442E8B-94A4-D6CF-E77C-A046400CB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/>
        </p:blipFill>
        <p:spPr>
          <a:xfrm rot="5400000">
            <a:off x="-1718310" y="1646872"/>
            <a:ext cx="6858000" cy="3573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86422"/>
            <a:ext cx="7156415" cy="2260117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C0E72D9-C2D7-3452-FBEB-5506D32118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5100"/>
            <a:ext cx="713739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826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617646-6AF6-94B0-E660-98BCAC61F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51400" y="892175"/>
            <a:ext cx="6617592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81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177A207-9B85-52B8-8ED0-3616C76742A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086100 h 6858000"/>
              <a:gd name="connsiteX1" fmla="*/ 4375405 w 12192000"/>
              <a:gd name="connsiteY1" fmla="*/ 6858000 h 6858000"/>
              <a:gd name="connsiteX2" fmla="*/ 0 w 12192000"/>
              <a:gd name="connsiteY2" fmla="*/ 6858000 h 6858000"/>
              <a:gd name="connsiteX3" fmla="*/ 7816598 w 12192000"/>
              <a:gd name="connsiteY3" fmla="*/ 0 h 6858000"/>
              <a:gd name="connsiteX4" fmla="*/ 12192000 w 12192000"/>
              <a:gd name="connsiteY4" fmla="*/ 0 h 6858000"/>
              <a:gd name="connsiteX5" fmla="*/ 12192000 w 12192000"/>
              <a:gd name="connsiteY5" fmla="*/ 3771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3086100"/>
                </a:moveTo>
                <a:lnTo>
                  <a:pt x="4375405" y="6858000"/>
                </a:lnTo>
                <a:lnTo>
                  <a:pt x="0" y="6858000"/>
                </a:lnTo>
                <a:close/>
                <a:moveTo>
                  <a:pt x="7816598" y="0"/>
                </a:moveTo>
                <a:lnTo>
                  <a:pt x="12192000" y="0"/>
                </a:lnTo>
                <a:lnTo>
                  <a:pt x="12192000" y="37718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1"/>
            <a:ext cx="7156415" cy="2258568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45489-5B17-0977-F512-70D9A10871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2232"/>
            <a:ext cx="715641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615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5346F93-664A-16A2-A824-FBB5F60B0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987468" cy="6858000"/>
          </a:xfrm>
          <a:custGeom>
            <a:avLst/>
            <a:gdLst>
              <a:gd name="connsiteX0" fmla="*/ 0 w 3987468"/>
              <a:gd name="connsiteY0" fmla="*/ 0 h 6858000"/>
              <a:gd name="connsiteX1" fmla="*/ 2450595 w 3987468"/>
              <a:gd name="connsiteY1" fmla="*/ 0 h 6858000"/>
              <a:gd name="connsiteX2" fmla="*/ 2774950 w 3987468"/>
              <a:gd name="connsiteY2" fmla="*/ 0 h 6858000"/>
              <a:gd name="connsiteX3" fmla="*/ 3146901 w 3987468"/>
              <a:gd name="connsiteY3" fmla="*/ 0 h 6858000"/>
              <a:gd name="connsiteX4" fmla="*/ 3152237 w 3987468"/>
              <a:gd name="connsiteY4" fmla="*/ 1372 h 6858000"/>
              <a:gd name="connsiteX5" fmla="*/ 3987468 w 3987468"/>
              <a:gd name="connsiteY5" fmla="*/ 1136650 h 6858000"/>
              <a:gd name="connsiteX6" fmla="*/ 3261452 w 3987468"/>
              <a:gd name="connsiteY6" fmla="*/ 2231955 h 6858000"/>
              <a:gd name="connsiteX7" fmla="*/ 3097572 w 3987468"/>
              <a:gd name="connsiteY7" fmla="*/ 2282826 h 6858000"/>
              <a:gd name="connsiteX8" fmla="*/ 3261452 w 3987468"/>
              <a:gd name="connsiteY8" fmla="*/ 2333697 h 6858000"/>
              <a:gd name="connsiteX9" fmla="*/ 3987468 w 3987468"/>
              <a:gd name="connsiteY9" fmla="*/ 3429001 h 6858000"/>
              <a:gd name="connsiteX10" fmla="*/ 3261452 w 3987468"/>
              <a:gd name="connsiteY10" fmla="*/ 4524306 h 6858000"/>
              <a:gd name="connsiteX11" fmla="*/ 3097574 w 3987468"/>
              <a:gd name="connsiteY11" fmla="*/ 4575176 h 6858000"/>
              <a:gd name="connsiteX12" fmla="*/ 3261452 w 3987468"/>
              <a:gd name="connsiteY12" fmla="*/ 4626047 h 6858000"/>
              <a:gd name="connsiteX13" fmla="*/ 3987468 w 3987468"/>
              <a:gd name="connsiteY13" fmla="*/ 5721351 h 6858000"/>
              <a:gd name="connsiteX14" fmla="*/ 3152237 w 3987468"/>
              <a:gd name="connsiteY14" fmla="*/ 6856629 h 6858000"/>
              <a:gd name="connsiteX15" fmla="*/ 3146905 w 3987468"/>
              <a:gd name="connsiteY15" fmla="*/ 6858000 h 6858000"/>
              <a:gd name="connsiteX16" fmla="*/ 2774950 w 3987468"/>
              <a:gd name="connsiteY16" fmla="*/ 6858000 h 6858000"/>
              <a:gd name="connsiteX17" fmla="*/ 2450591 w 3987468"/>
              <a:gd name="connsiteY17" fmla="*/ 6858000 h 6858000"/>
              <a:gd name="connsiteX18" fmla="*/ 0 w 3987468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468" h="6858000">
                <a:moveTo>
                  <a:pt x="0" y="0"/>
                </a:moveTo>
                <a:lnTo>
                  <a:pt x="2450595" y="0"/>
                </a:lnTo>
                <a:lnTo>
                  <a:pt x="2774950" y="0"/>
                </a:lnTo>
                <a:lnTo>
                  <a:pt x="3146901" y="0"/>
                </a:lnTo>
                <a:lnTo>
                  <a:pt x="3152237" y="1372"/>
                </a:lnTo>
                <a:cubicBezTo>
                  <a:pt x="3636128" y="151878"/>
                  <a:pt x="3987468" y="603234"/>
                  <a:pt x="3987468" y="1136650"/>
                </a:cubicBezTo>
                <a:cubicBezTo>
                  <a:pt x="3987468" y="1629034"/>
                  <a:pt x="3688101" y="2051497"/>
                  <a:pt x="3261452" y="2231955"/>
                </a:cubicBezTo>
                <a:lnTo>
                  <a:pt x="3097572" y="2282826"/>
                </a:lnTo>
                <a:lnTo>
                  <a:pt x="3261452" y="2333697"/>
                </a:lnTo>
                <a:cubicBezTo>
                  <a:pt x="3688101" y="2514154"/>
                  <a:pt x="3987468" y="2936617"/>
                  <a:pt x="3987468" y="3429001"/>
                </a:cubicBezTo>
                <a:cubicBezTo>
                  <a:pt x="3987468" y="3921385"/>
                  <a:pt x="3688101" y="4343848"/>
                  <a:pt x="3261452" y="4524306"/>
                </a:cubicBezTo>
                <a:lnTo>
                  <a:pt x="3097574" y="4575176"/>
                </a:lnTo>
                <a:lnTo>
                  <a:pt x="3261452" y="4626047"/>
                </a:lnTo>
                <a:cubicBezTo>
                  <a:pt x="3688101" y="4806504"/>
                  <a:pt x="3987468" y="5228967"/>
                  <a:pt x="3987468" y="5721351"/>
                </a:cubicBezTo>
                <a:cubicBezTo>
                  <a:pt x="3987468" y="6254767"/>
                  <a:pt x="3636128" y="6706123"/>
                  <a:pt x="3152237" y="6856629"/>
                </a:cubicBezTo>
                <a:lnTo>
                  <a:pt x="3146905" y="6858000"/>
                </a:lnTo>
                <a:lnTo>
                  <a:pt x="2774950" y="6858000"/>
                </a:lnTo>
                <a:lnTo>
                  <a:pt x="24505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65411" y="76581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5411" y="359913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3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6B8E3C-9527-FBC2-184C-8D90C4520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80572" y="1483837"/>
            <a:ext cx="2929829" cy="3890326"/>
          </a:xfrm>
        </p:spPr>
        <p:txBody>
          <a:bodyPr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5143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261226" y="1483837"/>
            <a:ext cx="4234117" cy="3890326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283464" indent="-283464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5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D9E1A91-D555-1AE6-2CDF-324AF09F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08481" y="892176"/>
            <a:ext cx="4578319" cy="5073648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E6FE2D-89F6-4F06-E60F-5C1CB044DC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2400" y="892176"/>
            <a:ext cx="2430462" cy="507364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1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96BC47-DB6B-4A01-6575-4D14CAEB3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51400" y="586740"/>
            <a:ext cx="6643944" cy="1653540"/>
          </a:xfrm>
        </p:spPr>
        <p:txBody>
          <a:bodyPr anchor="ctr"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800"/>
            </a:lvl4pPr>
            <a:lvl5pPr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BE81C174-B581-A6F3-A3B5-8072C0050E9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851400" y="2495074"/>
            <a:ext cx="6643944" cy="3776186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646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1287CC22-A7CC-E0D0-F44E-BA217E88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502400" cy="68580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305842" y="867412"/>
            <a:ext cx="3196558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3224" y="867412"/>
            <a:ext cx="4742119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251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AFFC437-DF02-7776-8224-91AD11D7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5238" y="-4"/>
            <a:ext cx="78676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67E2A-FC6B-2D96-EF20-768A6E8B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6323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1A79F2D-2D69-D1C7-FD7D-70C2EAE4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05BE07A-FC17-07E2-4E28-5883FC2C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D408C-2A4E-CEE1-5980-F9BC89383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E622ED-3DA5-D5E9-B688-B2000E522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1677B7-A20C-1A5D-301E-5B7DCAF1B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6AD29FD-92CC-65CC-1E8B-437A1E59A5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89960" y="892175"/>
            <a:ext cx="7482839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5813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392207A-D227-5650-4C58-FA396957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5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3BCBAF-4668-B2E6-7681-7E02428B4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746134" y="-4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3"/>
            <a:ext cx="7156415" cy="1740548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DD99B65-6C51-CA99-9872-6FD254075A8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21271" y="3670658"/>
            <a:ext cx="5149459" cy="1510939"/>
          </a:xfrm>
        </p:spPr>
        <p:txBody>
          <a:bodyPr lIns="18288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228600" indent="0" algn="ctr">
              <a:buNone/>
              <a:defRPr sz="20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2000"/>
            </a:lvl4pPr>
            <a:lvl5pPr marL="914400" indent="0" algn="ctr"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51251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0" r:id="rId2"/>
    <p:sldLayoutId id="2147483747" r:id="rId3"/>
    <p:sldLayoutId id="2147483748" r:id="rId4"/>
    <p:sldLayoutId id="2147483708" r:id="rId5"/>
    <p:sldLayoutId id="2147483746" r:id="rId6"/>
    <p:sldLayoutId id="2147483725" r:id="rId7"/>
    <p:sldLayoutId id="2147483742" r:id="rId8"/>
    <p:sldLayoutId id="2147483736" r:id="rId9"/>
    <p:sldLayoutId id="2147483745" r:id="rId10"/>
    <p:sldLayoutId id="2147483741" r:id="rId11"/>
    <p:sldLayoutId id="2147483718" r:id="rId12"/>
    <p:sldLayoutId id="2147483737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0423-92ED-41A8-B13E-ED2A99FC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088" y="2790334"/>
            <a:ext cx="7041823" cy="2894029"/>
          </a:xfrm>
          <a:noFill/>
          <a:ln w="38100" cap="sq">
            <a:noFill/>
            <a:miter lim="800000"/>
          </a:ln>
        </p:spPr>
        <p:txBody>
          <a:bodyPr lIns="0" rIns="0" anchor="ctr" anchorCtr="0">
            <a:noAutofit/>
          </a:bodyPr>
          <a:lstStyle/>
          <a:p>
            <a:pPr algn="ctr" rtl="0">
              <a:buNone/>
            </a:pPr>
            <a:r>
              <a:rPr kumimoji="0" lang="en-IN" b="0" i="0" u="none" strike="noStrike" kern="1200" cap="all" spc="2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RTOS - Based Railway Crossing Automation System</a:t>
            </a:r>
            <a:br>
              <a:rPr kumimoji="0" lang="en-IN" b="0" i="0" u="none" strike="noStrike" kern="1200" cap="all" spc="20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IN" b="0" i="0" u="none" strike="noStrike" kern="1200" cap="all" spc="20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BA9A9-BB56-28E6-32C9-F2DC4426331F}"/>
              </a:ext>
            </a:extLst>
          </p:cNvPr>
          <p:cNvSpPr txBox="1"/>
          <p:nvPr/>
        </p:nvSpPr>
        <p:spPr>
          <a:xfrm>
            <a:off x="2575088" y="5373279"/>
            <a:ext cx="65500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		 250850130004 - A. Rohith Naga Sai 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 250850130012 - Dhanush Gowda 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 250850130017 - Kapil Rajgopal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 250850130021 - Konakalla Vivek Sri Krishna Chaitanya</a:t>
            </a:r>
            <a:endParaRPr lang="en-IN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016D9-16D3-9C4A-8146-EF4E16EC43C4}"/>
              </a:ext>
            </a:extLst>
          </p:cNvPr>
          <p:cNvSpPr txBox="1"/>
          <p:nvPr/>
        </p:nvSpPr>
        <p:spPr>
          <a:xfrm>
            <a:off x="5156462" y="611925"/>
            <a:ext cx="2064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- 3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43B7C-FABA-A40D-7802-619F753A9507}"/>
              </a:ext>
            </a:extLst>
          </p:cNvPr>
          <p:cNvSpPr txBox="1"/>
          <p:nvPr/>
        </p:nvSpPr>
        <p:spPr>
          <a:xfrm>
            <a:off x="1821730" y="3244334"/>
            <a:ext cx="28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0106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 tIns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CFC7BA5-763A-6BCC-B176-BCB8F2B4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 lIns="0"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72100" y="892175"/>
            <a:ext cx="3461659" cy="5073650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components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STM32H753ZI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and Buzzer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RTOS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RTOS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784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16F188B-64AC-8821-8110-7D3C4668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5411" y="765809"/>
            <a:ext cx="7029933" cy="53239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developed a fully automated railway level crossing gate system to eliminate accidents caused by human error in traditional manual operations. Using the high-performance 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Nucleo-STM32H753ZI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board powered by the STM32H7 microcontroller, we integrated two independent servo-controlled gates with real-time safety features.</a:t>
            </a: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arrival is detected by an IR sensor on the entrance side (Gate-1), triggering both gates to close smoothly in 10° steps. Ultrasonic sensors monitor for obstacles (vehicles or people) under each gate during closing - if detected, the affected gate pauses at 90° until clear, while the other continues independently. Once both gates are closed, a short delay allows the train to pass safely. Train exit is detected by the second IR sensor (Gate-2), opening the gates after a brief delay.</a:t>
            </a: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feedback comes from traffic lights (red during closing/passing, yellow warning, green when open) and audible alerts from buzzers. We implemented both bare-metal (without RTOS) and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versions for comparison, achieving reliable, responsive control suitable for real-world safety applications. The system includes detailed UART logging for debugging and monitoring.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674DE4-E247-6221-003F-F5EDF18C7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8EB18-9E75-62BE-FDC2-DB82D96C89C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761296" y="697584"/>
            <a:ext cx="7833673" cy="547697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  <a:endParaRPr lang="en-IN" sz="19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STM32H753ZI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board (main MCU)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× MG995 Servo Motors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(high-torque gate control, 180° rotation)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× HC-SR04 Ultrasonic Sensors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(obstacle detection, 2 - 400 cm range)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× IR Infrared Obstacle Avoidance Sensors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(train arrival/exit detection, active low)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× LED Traffic Light Modules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(Red/Yellow/Green signals for road users)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× 5V Active Electromagnetic Buzzers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(audio warnings)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Jumper wires for connections, breadboard, separate 5V and 3.3V power supply for servos (high current) and other sensors, and USB for debugging such as UART logging.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900" b="1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Software Tools</a:t>
            </a:r>
            <a:endParaRPr kumimoji="0" lang="en-IN" sz="19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STM32CubeIDE</a:t>
            </a: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→ Primary IDE for code development, HAL configuration, </a:t>
            </a:r>
            <a:r>
              <a:rPr kumimoji="0" lang="en-IN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FreeRTOS</a:t>
            </a: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setup, debugging, and code generation from STM32CubeMX.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Proteus</a:t>
            </a: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→ Used for simulation and virtual testing for some of the circuits before hardware implementation.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58589-7CC8-7CCC-8CCB-9E7FD0498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08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6173E-3E85-8198-EDD9-A605860E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485B-AE4F-50F3-0602-40BD1E5E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STM32H753ZI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56E44D4-E100-7B88-E218-750FFF97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031FB-DDC2-467A-A16E-459653C81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52289" y="473578"/>
            <a:ext cx="7029933" cy="532390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5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en-IN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STM32H753ZI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(Arm® Cortex®-M7 32-bit RISC core) </a:t>
            </a:r>
            <a:r>
              <a:rPr lang="en-IN" sz="1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powerful, high-performance development board from STMicroelectronics, ideal for demanding real-time and industrial applications like our railway gate system.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Specifications</a:t>
            </a:r>
            <a:endParaRPr lang="en-IN" sz="15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MCU: STM32H753ZI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Clock Speed: Up to 480 MHz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Flash Memory: 2 MB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SRAM: 1 MB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Peripherals: Multiple timers (PWM, Input Capture), Ethernet, USB OTG HS/FS, cryptographic acceleration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Connectivity: Arduino Uno V3, ST Zio, and Morpho connectors for easy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On-board Debugger: ST-LINK/V3E (USB, SWD, JTAG support)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Flexibility: USB or external 7 - 12 V supply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Compact Form: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-144 format for prototyping</a:t>
            </a:r>
          </a:p>
          <a:p>
            <a:pPr>
              <a:buNone/>
            </a:pPr>
            <a:r>
              <a:rPr lang="en-IN" sz="1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board provides the processing power and timer resources needed for precise servo PWM, ultrasonic capture, and </a:t>
            </a:r>
            <a:r>
              <a:rPr lang="en-IN" sz="15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IN" sz="1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multitasking.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4E4D1B-32B8-F309-218B-4A6AA7E955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39" t="13445" r="8817" b="18134"/>
          <a:stretch>
            <a:fillRect/>
          </a:stretch>
        </p:blipFill>
        <p:spPr>
          <a:xfrm>
            <a:off x="9813180" y="1278239"/>
            <a:ext cx="1244462" cy="21507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45CF2A-53D9-8624-51AF-2AFD2C7C04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37" t="9684" r="13015" b="10438"/>
          <a:stretch>
            <a:fillRect/>
          </a:stretch>
        </p:blipFill>
        <p:spPr>
          <a:xfrm rot="5400000">
            <a:off x="7474851" y="1791582"/>
            <a:ext cx="2144783" cy="1118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4683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2D2C9-56EE-4A40-0A51-01A3F684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FD7C41-A3A9-AF0B-D7A1-265FD3556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IN" dirty="0"/>
              <a:t>LED and Buzzer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568DD-109F-8E78-4766-11F6F633440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780148" y="829729"/>
            <a:ext cx="7711125" cy="5476973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 Traffic Light Module -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is a compact digital signal module simulating real traffic lights with three high-brightness LEDs (Red, Yellow, Green).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Principle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- cathode design - LEDs share a common ground. Applying HIGH (5V) to individual control pins (R/Y/G) turns the corresponding LED ON. Can connect to PWM pins for brightness control if needed.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5V Active Electromagnetic Buzzer -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simple audio alert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Principle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an internal oscillator and electromagnetic coil. Applying a steady 5V DC signal activates the coil, causing a diaphragm to vibrate at ~2048 Hz, producing a loud beep (~80 dB at 10 cm). No external frequency generation required - just ON/OFF control.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EC74B-1C1C-C85E-878E-46D6DC67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225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681BB-9941-B23C-6000-24961EDA4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663E3-07D9-D9E5-6E0F-7DBD6D627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IN" dirty="0"/>
              <a:t>LED and Buzzer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4D129-1110-F9F5-AE94-0CA65B02A20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657601" y="290509"/>
            <a:ext cx="8022209" cy="6033154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 Traffic Light Module</a:t>
            </a:r>
            <a:endParaRPr lang="en-IN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Pinout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VCC (5V), GND, R (Red control), Y (Yellow control), G (Green control)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STM32 Connections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(Gate-1): PA5 → Red, PA6 → Yellow, PA7 → Green                                                                         	                 (Gate-2): PE2 → Red, PE3 → Yellow, PE4 → Green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Bright and visible, simple digital control, low power, durable for models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colours (no RGB mixing), requires 5 separate pins for two modules, no built-in blinking logic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5V Active Buzzer</a:t>
            </a:r>
            <a:endParaRPr lang="en-IN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Pinout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Two pins (longer = signal, shorter = GND)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STM32 Connections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(Gate-1): PA9, (Gate-2): PE5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Very loud for alerts, easy to drive (just digital HIGH/LOW), compact and cheap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Fixed tone (no melody), continuous tone can be annoying if not timed, draws ~30–50 mA when ON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Railway/traffic signalling models, Automation alerts and warnings, Educational robotics and IoT projects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6EC1F-D7B2-8FDB-7C1D-9EB7674B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1AE988-037F-1585-F336-A3591C97F9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21" t="32302" r="15069" b="44167"/>
          <a:stretch>
            <a:fillRect/>
          </a:stretch>
        </p:blipFill>
        <p:spPr>
          <a:xfrm rot="16200000">
            <a:off x="10103885" y="3604155"/>
            <a:ext cx="1751085" cy="14007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F88B06-F288-FBFE-6BA6-DA3560152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51" t="17319" r="18642" b="28661"/>
          <a:stretch>
            <a:fillRect/>
          </a:stretch>
        </p:blipFill>
        <p:spPr>
          <a:xfrm rot="10800000">
            <a:off x="10279044" y="397684"/>
            <a:ext cx="1400766" cy="25604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9826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A8969-D41D-CD4C-5DA0-6A964DCF1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73A3B9-7618-20B7-2E25-3AF907373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IN" dirty="0"/>
              <a:t>LED and Buzzer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C6F2C-49D3-E224-75E2-92432CB5878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761296" y="697584"/>
            <a:ext cx="7711125" cy="5476973"/>
          </a:xfrm>
        </p:spPr>
        <p:txBody>
          <a:bodyPr>
            <a:normAutofit fontScale="70000" lnSpcReduction="20000"/>
          </a:bodyPr>
          <a:lstStyle/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LED and Buzzer Control Functions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TurnOffAllFeedback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Reset all LEDs and Buzzers (Gate-1 and Gate-2)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GPIO_PIN_5 | GPIO_PIN_6 | GPIO_PIN_7 | GPIO_PIN_9, 0);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(GPIOE, GPIO_PIN_2 | GPIO_PIN_3 | GPIO_PIN_4 | GPIO_PIN_5, 0);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BlinkRedAndBuzzBoth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Turn ON Red LEDs + Buzzers (both gates)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GPIO_PIN_5 | GPIO_PIN_9, 1);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(GPIOE, GPIO_PIN_2 | GPIO_PIN_5, 1);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Initialization (safe starting state)</a:t>
            </a:r>
          </a:p>
          <a:p>
            <a:pPr rtl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TurnOffAllFeedback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rtl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GPIO_PIN_7, 1);   // Green Gate-1 ON</a:t>
            </a:r>
          </a:p>
          <a:p>
            <a:pPr rtl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(GPIOE, GPIO_PIN_4, 1);   // Green Gate-2 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66D4A-498A-1EED-1A66-8565300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818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 tIns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CFC7BA5-763A-6BCC-B176-BCB8F2B4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 lIns="0"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3776" y="901601"/>
            <a:ext cx="6715289" cy="534836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3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IR Infrared Obstacle Avoidance Sensor</a:t>
            </a:r>
            <a:r>
              <a:rPr lang="en-IN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 simple, low-cost module used to detect objects or interruptions (like a train blocking the path).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13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range: 2 - 30 cm (adjustable with potentiometer)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Output: Digital (Active Low - HIGH when clear, LOW when obstacle detected)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voltage: 3.3V - 5V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  <a:endParaRPr lang="en-IN" sz="13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IR LED emits invisible infrared light continuously.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photodiode receives the reflected light when an object is present.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reflection is strong (obstacle close), the comparator outputs LOW (active).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no reflection (clear path), output stays HIGH.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Built-in potentiometer lets us adjust sensitivity for distance.</a:t>
            </a:r>
          </a:p>
          <a:p>
            <a:pPr>
              <a:buNone/>
            </a:pPr>
            <a:r>
              <a:rPr lang="en-IN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perfect for detecting train arrival or exit in our railway gate system.</a:t>
            </a:r>
          </a:p>
          <a:p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E536F-7CA7-39C4-9094-6FEE13313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617C-7DD5-1C7A-2C16-4217CC643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 tIns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E932878-54FE-59F3-F680-56C787F9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 lIns="0"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95BBF-F813-9EE9-D042-16ED57826D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3146" y="1127845"/>
            <a:ext cx="7388030" cy="507365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Pinout</a:t>
            </a:r>
            <a:r>
              <a:rPr lang="en-IN" sz="1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(3 - pin module)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VCC → 3.3V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GND → 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 → Digital output (active low)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3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STM32 Connections</a:t>
            </a:r>
            <a:endParaRPr lang="en-IN" sz="13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Gate-1 (Train Arrival): PA0 → OUT (GPIO Input), Gate-2 (Train Exit): PF0 → OUT (GPIO Input)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Very cheap and simple, Fast response (no moving parts), Easy digital output (just read pin), Works in dark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 range (max ~30 cm), Affected by sunlight, surface colour, dust, Fixed detection angle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detection, Obstacle avoidance in robots, Line following, door sensors, Automation projects</a:t>
            </a:r>
          </a:p>
          <a:p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70336-C859-6C3F-376E-18E2171D08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32" t="35513" r="33228" b="34268"/>
          <a:stretch>
            <a:fillRect/>
          </a:stretch>
        </p:blipFill>
        <p:spPr>
          <a:xfrm rot="10800000">
            <a:off x="9768932" y="575035"/>
            <a:ext cx="1533806" cy="20724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108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CAC83-0851-C055-DF38-E7FE7B5E5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03BE-1494-BE36-D860-793785CE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 tIns="0"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0E9207E-4F11-4911-232A-42D4F92E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 lIns="0"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5BF7-73EA-01CD-FE4F-4A67A61118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400" y="892175"/>
            <a:ext cx="6617592" cy="50736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IR Sensor Test (Gate-1 example)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uint8_t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GPIO_PIN_SET;    // Previous state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while(1)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uint8_t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HAL_GPIO_ReadPin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GPIO_PIN_0);  // Read PA0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GPIO_PIN_RESET &amp;&amp;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GPIO_PIN_SET)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Train detected (falling edge)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Print("IR Gate-1: Train Coming!\r\n");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BlinkRedAndBuzzBoth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// Alert with LED + Buzzer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(500);                // Simple debounce &amp; alert time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(50);                    // Poll every 50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472983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91A4-7839-4F63-B17C-7C366C594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6E3A828-4C37-B3D3-4A6A-EAD9AC3E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ED227-95A7-4B08-91FE-5E0EF0D41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1400" y="586739"/>
            <a:ext cx="6658728" cy="5616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HC-SR04 Ultrasonic Range Finder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non - contact distance sensor used to detect obstacles under the gate.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 short 10 µs trigger pulse → emits 8 bursts of 40 kHz ultrasonic waves.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Listens for reflected echo from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time between trigger and echo.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= (time × speed of sound) / 2 (speed ≈ 0.0343 cm/µs at room temperature)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2 cm to 400 cm (ideal 2 - 200 cm for accuracy).</a:t>
            </a: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our project: One sensor per gate checks for the presence of vehicles/people during closing state only.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354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C4691-7844-7BB3-6B26-4FC24348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C303-6C11-A460-CCEF-2371AE24C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C559C92-6081-EAC1-DF0B-9C66D8EC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F9D0D-88E6-AF80-B033-3BFD160D5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2828" y="781207"/>
            <a:ext cx="7032397" cy="5616097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Pinout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(4 - pin module)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 → 5V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 → Trigger pulse (output from MCU)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→ Echo pulse (input to MCU)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 → Ground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STM32 Connections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Gate-1: PB2 → Trig (GPIO Output), PB1 → Echo (TIM3_CH4 Input Capture)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Gate-2: PB9 → Trig (GPIO Output), PB8 → Echo (TIM4_CH3 Input Capture)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Accurate, non-contact, wide range, immune to light/colour.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Affected by soft surfaces/temp, blind zone &lt; 2 cm, needs 5V.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Obstacle detection, parking sensors, robotics, level crossing.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60BD3-7EDD-F0C2-A3B0-6A0EE2649F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19" t="30377" r="25488" b="29760"/>
          <a:stretch>
            <a:fillRect/>
          </a:stretch>
        </p:blipFill>
        <p:spPr>
          <a:xfrm rot="5400000">
            <a:off x="9389097" y="103695"/>
            <a:ext cx="1677971" cy="27337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9045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25ED8-8618-F031-9E8A-57433CC2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F569-01F1-4567-3A7A-FF514837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5313F21-83C5-4E35-05C5-73E09F8C1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E9F9E-7212-6159-2174-7C7B4B147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1400" y="586739"/>
            <a:ext cx="6658728" cy="5616097"/>
          </a:xfr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Ultrasonic Test (Gate-1 example)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Get_Ultrasonic_Distance_Gate1()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HCSR04_Trigger_Gate1();           // Send 10µs pulse on PB2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(60);                          // Wait for echo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distance_cm_gate1;          // Updated by TIM3 callback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 main loop while(1)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Get_Ultrasonic_Distance_Gate1();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2.0f &amp;&amp;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15.0f)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Print("Obstacle detected! Distance: %.1f cm\r\n",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BlinkRedAndBuzzBoth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// Alert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(200);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8059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53A0C8-DA91-CFE4-729F-190431BB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8D25C-0947-910E-801D-3901288B49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9387" y="1061857"/>
            <a:ext cx="7482839" cy="507365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MG995 Servo Motor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High-torque digital metal-gear servo used to physically open/close the railway gates (180° rotation).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Controlled by PWM signal (50 Hz, pulse width 1 - 2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Pulse width determines angle: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0° (closed)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~1.5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90°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180° (open)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potentiometer + feedback loop adjusts position precisely.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gears give high torque (up to 12 kg . cm at 6V).</a:t>
            </a:r>
          </a:p>
          <a:p>
            <a:pPr>
              <a:buNone/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our project: One servo per gate - moves in 10° steps during closing/opening, pauses at 90° if ultrasonic detects obstacle.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65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9B585-BBAC-3EF0-EBBD-1FD1EFB2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9AA4-3C10-E482-EF42-14C372588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F0A91D-637E-5606-B38D-0B27E480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F026-E5A7-AD35-26E7-CD562533F4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80533" y="1108991"/>
            <a:ext cx="7925900" cy="507365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Pinout</a:t>
            </a: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(3 - wire cable)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Orange → Signal (PWM)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 → Power (4.8 - 7.2V, usually 5 - 6V)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Brown → Ground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STM32 Connections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Gate-1: PA8 → Signal (TIM1_CH1 PWM)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Gate-2: PA15 → Signal (TIM2_CH1 PWM)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torque, precise position control, durable metal gears, easy PWM interface.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Needs separate stable 5 - 6V power (high current), power-hungry when moving, slight jitter possible.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Railway gates, robotic arms, RC models, camera gimbals, automation projects.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049467-EF8B-5DC6-4E7D-366BA3C310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79" t="22406" r="17153" b="32096"/>
          <a:stretch>
            <a:fillRect/>
          </a:stretch>
        </p:blipFill>
        <p:spPr>
          <a:xfrm>
            <a:off x="8804635" y="525543"/>
            <a:ext cx="2187019" cy="31202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899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6877A-86B6-55F9-DB87-F98A66C8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B615-D766-6D5A-94DC-3C1CC707D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73AA53C-346F-CEE6-E20A-99205FDD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</p:spPr>
        <p:txBody>
          <a:bodyPr/>
          <a:lstStyle/>
          <a:p>
            <a:fld id="{8A7A6979-0714-4377-B894-6BE4C2D6E20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16AD7-14F4-896B-6C7A-4304F86725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Simple Servo Test (Gate - 1 example)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SetServoGate1(float angle)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__HAL_TIM_SET_COMPARE(&amp;htim1, TIM_CHANNEL_1,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Angle_to_CCR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(angle));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 main loop (test sweep)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angle = 0.0f;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while(1)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SetServoGate1(angle);           // Set angle (0° to 180°)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Print("Gate-1 Angle: %.0f°\r\n", angle);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angle += 10.0f;                      // Move 10° each time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(angle &gt; 180.0f) angle = 0.0f;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(200);                // Wait 200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step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9156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314A4-F1E5-F9BA-D4EE-CA1C17467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RTOS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B1F56-E1E2-0ABB-51F2-265BA3D9D79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63332" y="405353"/>
            <a:ext cx="8220173" cy="5392132"/>
          </a:xfrm>
        </p:spPr>
        <p:txBody>
          <a:bodyPr>
            <a:no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IR detects train → close gate + blink red and buzz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Simple flow: IR low → both gates close from 180° to 0° → red LEDs &amp; buzzers blink during movement → steady when closed.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HAL_GPIO_ReadPin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GPIO_PIN_0) == GPIO_PIN_RESET) {  // Gate - 1 IR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Print("Train Coming! Closing Gate...\r\n");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(float angle = 180.0f; angle &gt;= 0.0f; angle -= 10.0f)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SetServoGate1(angle);          // Move servo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SetServoGate2(angle);          // Both gates sync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BlinkRedAndBuzzBoth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// Red LED + Buzzer 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(200);                // Smooth step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TurnOffAllFeedback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// OFF for blink effect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(200);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GPIO_PIN_5, 1);   // Steady red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(GPIOE, GPIO_PIN_2, 1);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GPIO_PIN_9, 1);   // Steady buzz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AE84F-2473-E641-B053-3343E46C6E2C}"/>
              </a:ext>
            </a:extLst>
          </p:cNvPr>
          <p:cNvSpPr txBox="1"/>
          <p:nvPr/>
        </p:nvSpPr>
        <p:spPr>
          <a:xfrm>
            <a:off x="2318572" y="3244330"/>
            <a:ext cx="459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43860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19D5-9B64-79BB-DA7D-0465F9CA9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018C5-BB2E-3C0A-3BA2-0BAEF3B74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RTOS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19653-9D3A-86F8-A51F-FD7D0473A14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487918" y="326734"/>
            <a:ext cx="8210746" cy="5835191"/>
          </a:xfrm>
        </p:spPr>
        <p:txBody>
          <a:bodyPr>
            <a:no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While closing – check ultrasonic every step</a:t>
            </a:r>
          </a:p>
          <a:p>
            <a:pPr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flow: During gate closing → ultrasonic check → if obstacle (2 - 15 cm) → pause at 90° + alert → resume when clear → continue to 0°.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(gate1_current_angle &gt; 0.0f)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Get_Ultrasonic_Distance_Gate1();  // Read sensor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2.0f &amp;&amp;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15.0f) {                  // Obstacle!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Print("Obstacle! Pausing at 90°\r\n");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SetServoGate1(90.0f);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BlinkRedAndBuzzBoth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                // Alert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(1000);                                   // Pause 1 sec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TurnOffAllFeedback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else {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gate1_current_angle -= 10.0f;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SetServoGate1(gate1_current_angle);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Print("Gate Angle: %.0f°\r\n", gate1_current_angle);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(100);                                 // Normal step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9366D-5C03-8722-D4C8-074290518C27}"/>
              </a:ext>
            </a:extLst>
          </p:cNvPr>
          <p:cNvSpPr txBox="1"/>
          <p:nvPr/>
        </p:nvSpPr>
        <p:spPr>
          <a:xfrm>
            <a:off x="2318572" y="3244330"/>
            <a:ext cx="459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30211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47BA9-D41A-AF23-7F18-D9973551F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9ECCB46-CE13-ED35-B1C2-E7CE98BAF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RTOS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4CE2BE5-B69A-D74D-F805-1D04D48BE0B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704735" y="443060"/>
            <a:ext cx="4760536" cy="5995447"/>
          </a:xfrm>
        </p:spPr>
        <p:txBody>
          <a:bodyPr>
            <a:noAutofit/>
          </a:bodyPr>
          <a:lstStyle/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Main logic (simplified flow </a:t>
            </a:r>
            <a:r>
              <a:rPr lang="en-I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RTOS)</a:t>
            </a: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Simple flow: IR1 low → warning → close both gates (10° steps) → pause if obstacle → both closed → wait → IR2 low → open gates → green lights ON.</a:t>
            </a:r>
            <a:endParaRPr lang="en-IN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HAL_GPIO_ReadPin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GPIO_PIN_0) == GPIO_PIN_RESET) {  // Train arrival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Print("Train Coming!\r\n");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(2000);  // Yellow warning time (blink can be added)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sweeping_down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gate1_current_angle = 180.0f;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while (gate1_current_angle &gt; 0.0f || gate2_current_angle &gt; 0.0f) {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// Gate 1 move + check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if (gate1_current_angle &gt; 0.0f) {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float d1 = Get_Ultrasonic_Distance_Gate1();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if (d1 &gt;= 2 &amp;&amp; d1 &lt;= 15) {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SetServoGate1(90.0f); 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(1000);  // Pause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18826-4AC6-7638-AE57-967160B8AA7C}"/>
              </a:ext>
            </a:extLst>
          </p:cNvPr>
          <p:cNvSpPr txBox="1"/>
          <p:nvPr/>
        </p:nvSpPr>
        <p:spPr>
          <a:xfrm>
            <a:off x="8352148" y="471340"/>
            <a:ext cx="3478491" cy="614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else {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gate1_current_angle -= 10;    SetServoGate1(gate1_current_angle);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} }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BlinkRedAndBuzzBoth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(100);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TurnOffAllFeedback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  }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  Print("Both Closed – Train Passing\r\n");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9BAFB5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(3000);  // Passing delay</a:t>
            </a:r>
            <a:r>
              <a:rPr lang="en-IN" sz="1400" dirty="0">
                <a:solidFill>
                  <a:srgbClr val="4A53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HAL_GPIO_ReadPin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(GPIOF, GPIO_PIN_0) == GPIO_PIN_RESET) {  </a:t>
            </a: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Train exit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Print("Train Gone! Opening Gates\r\n");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(1000);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// Open logic similar to close but angle += 10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TurnOffAllFeedback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GPIO_PIN_7, 1);  // Green ON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1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89C59-8A14-1255-2F77-666EC9A5DE7C}"/>
              </a:ext>
            </a:extLst>
          </p:cNvPr>
          <p:cNvSpPr txBox="1"/>
          <p:nvPr/>
        </p:nvSpPr>
        <p:spPr>
          <a:xfrm>
            <a:off x="2308130" y="3244330"/>
            <a:ext cx="438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30676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4758C-93E5-E5F1-1ED8-BDD5C009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RTOS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C25C7-CA00-9CE1-4935-45F17CC32E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89025" y="383294"/>
            <a:ext cx="4440023" cy="5552388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 Configurations</a:t>
            </a: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Gate-1 Ultrasonic: PB2 Trig, PB1 Echo (TIM3_CH4)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Gate-1 Servo: PA8 (TIM1_CH1 PWM)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Gate-1 LEDs/Buzzer: PA5 R, PA6 Y, PA7 G, PA9 Buzzer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Gate-2 IR: PF0 (Input)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Gate-2 Ultrasonic: PB9 Trig, PB8 Echo (TIM4_CH3)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Gate-2 Servo: PA15 (TIM2_CH1 PWM)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Gate-2 LEDs/Buzzer: PE2 R, PE3 Y, PE4 G, PE5 Buzzer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F8143-D81D-02CB-EFF8-FD5F09091104}"/>
              </a:ext>
            </a:extLst>
          </p:cNvPr>
          <p:cNvSpPr txBox="1"/>
          <p:nvPr/>
        </p:nvSpPr>
        <p:spPr>
          <a:xfrm>
            <a:off x="2292811" y="3244330"/>
            <a:ext cx="468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5C674-8A74-49E2-4BD7-A901F859DF36}"/>
              </a:ext>
            </a:extLst>
          </p:cNvPr>
          <p:cNvSpPr txBox="1"/>
          <p:nvPr/>
        </p:nvSpPr>
        <p:spPr>
          <a:xfrm>
            <a:off x="8218338" y="1159497"/>
            <a:ext cx="3621727" cy="3226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rgbClr val="9BAFB5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RTOS Key Setup (CMSIS_V2)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defTabSz="914400">
              <a:spcBef>
                <a:spcPts val="1000"/>
              </a:spcBef>
              <a:spcAft>
                <a:spcPts val="1200"/>
              </a:spcAft>
              <a:buClr>
                <a:srgbClr val="9BAFB5"/>
              </a:buClr>
              <a:buFont typeface="Arial" panose="020B0604020202020204" pitchFamily="34" charset="0"/>
              <a:buChar char="•"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Tasks</a:t>
            </a:r>
            <a:r>
              <a:rPr lang="en-IN" sz="1400" dirty="0">
                <a:solidFill>
                  <a:srgbClr val="4A53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Sensor1/2 (Above Normal),     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Servo1/2 (High),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LEDBuzzer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(Normal),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UARTPrint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(Low)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Event Flags: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closeEvent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openEvent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4A5356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Mutex: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stateMutex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(protect angles/count/state)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Queue: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printQueue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(20 items for logging)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rgbClr val="9BAFB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Timebase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TIM6 (1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A535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tick)</a:t>
            </a:r>
          </a:p>
        </p:txBody>
      </p:sp>
    </p:spTree>
    <p:extLst>
      <p:ext uri="{BB962C8B-B14F-4D97-AF65-F5344CB8AC3E}">
        <p14:creationId xmlns:p14="http://schemas.microsoft.com/office/powerpoint/2010/main" val="2031733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1CC06-FB85-660D-4CBE-0CDE867E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52DC-B6D5-9912-2B58-E4F928F3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RTOS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63F38-EF5B-5698-F7EB-F531CA3776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33014" y="879888"/>
            <a:ext cx="3978111" cy="5552388"/>
          </a:xfrm>
        </p:spPr>
        <p:txBody>
          <a:bodyPr>
            <a:noAutofit/>
          </a:bodyPr>
          <a:lstStyle/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SensorMonitor1Task - Detects train arrival (IR Gate - 1)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for(;;) {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if 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HAL_GPIO_ReadPin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GPIO_PIN_0) == GPIO_PIN_RESET) {  // Falling edge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Print("Train Coming! Gate-1 IR Triggered\r\n");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osEventFlagsSet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closeEvent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0x01);     // Wake both servo tasks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pdMS_TO_TICKS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(200));        // Simple debounce    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pdMS_TO_TICKS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(50));             // Poll every 50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SensorMonitor2Task – Detects train exit (IR Gate-2)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for(;;) {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if 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HAL_GPIO_ReadPin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(GPIOF, GPIO_PIN_0) == GPIO_PIN_RESET) {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Print("Train Exited! Gate-2 IR Triggered\r\n");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osEventFlagsSet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openEvent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0x01);      // Signal open to servos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pdMS_TO_TICKS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(200));   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pdMS_TO_TICKS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(50)); 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6249C-FCAB-779F-4FDD-7C4F5DC3579C}"/>
              </a:ext>
            </a:extLst>
          </p:cNvPr>
          <p:cNvSpPr txBox="1"/>
          <p:nvPr/>
        </p:nvSpPr>
        <p:spPr>
          <a:xfrm>
            <a:off x="2292811" y="3244330"/>
            <a:ext cx="468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7D5BD-9E8E-5891-F525-7C729DA6B282}"/>
              </a:ext>
            </a:extLst>
          </p:cNvPr>
          <p:cNvSpPr txBox="1"/>
          <p:nvPr/>
        </p:nvSpPr>
        <p:spPr>
          <a:xfrm>
            <a:off x="7711125" y="452487"/>
            <a:ext cx="397811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LEDBuzzerTask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Handles visual/audio feedback</a:t>
            </a:r>
          </a:p>
          <a:p>
            <a:pPr rtl="0">
              <a:buNone/>
            </a:pP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for(;;) {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if 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system_state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== 2 ||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system_state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== 4) {  // Moving (closing/opening)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BlinkRedAndBuzzBoth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(500);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TurnOffAllFeedback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(500);     // Blink effect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} </a:t>
            </a:r>
          </a:p>
          <a:p>
            <a:pPr rtl="0">
              <a:buNone/>
            </a:pPr>
            <a:r>
              <a:rPr lang="en-IN" sz="1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else if 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system_state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== 3) {                // Passing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BlinkRedAndBuzzBoth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                    // Steady alert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}</a:t>
            </a:r>
          </a:p>
          <a:p>
            <a:pPr rtl="0">
              <a:buNone/>
            </a:pPr>
            <a:endParaRPr lang="en-IN" sz="1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else {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TurnOffAllFeedback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                      // Green when idle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GPIO_PIN_7, 1);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HAL_GPIO_WritePin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(GPIOE, GPIO_PIN_4, 1);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pdMS_TO_TICKS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(50));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0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64C0-5885-5D0C-C4BB-61F5BF29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0FA2-7F82-0979-6B14-491A5459B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RTOS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982F2-1008-8510-E80A-A048855434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6453" y="933253"/>
            <a:ext cx="4138367" cy="5552388"/>
          </a:xfrm>
        </p:spPr>
        <p:txBody>
          <a:bodyPr>
            <a:noAutofit/>
          </a:bodyPr>
          <a:lstStyle/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ServoControl1Task – Gate - 1 independent movement and safety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for(;;) {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osEventFlagsWait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closeEvent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0x01,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osFlagsWaitAny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osWaitForever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  // Wait close signal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pdMS_TO_TICKS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(2000));       // Warning delay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gate1_current_angle = 180.0f;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while (gate1_current_angle &gt; 0.0f) {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float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Get_Ultrasonic_Distance_Gate1();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if 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&gt;= 2.0f &amp;&amp;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&lt;= 15.0f) {               // Obstacle!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SetServoGate1(90.0f); Print("Gate-1 Paused!\r\n");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pdMS_TO_TICKS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(1000));               // 1s pause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} else {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gate1_current_angle -= 10.0f;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SetServoGate1(gate1_current_angle);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pdMS_TO_TICKS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(100));                // 100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       }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gates_closed_count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++;  // Count for sync (mutex protected in full)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C63D4-8859-2CE4-A6C6-D7EDBD149B53}"/>
              </a:ext>
            </a:extLst>
          </p:cNvPr>
          <p:cNvSpPr txBox="1"/>
          <p:nvPr/>
        </p:nvSpPr>
        <p:spPr>
          <a:xfrm>
            <a:off x="2292811" y="3244330"/>
            <a:ext cx="468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50731-C8AB-F8F7-F6E9-F6AC6A1819C7}"/>
              </a:ext>
            </a:extLst>
          </p:cNvPr>
          <p:cNvSpPr txBox="1"/>
          <p:nvPr/>
        </p:nvSpPr>
        <p:spPr>
          <a:xfrm>
            <a:off x="7814820" y="461913"/>
            <a:ext cx="394040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ServoControl2Task – Gate-2 (symmetric – same structure)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UARTPrintTask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Thread-safe logging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for(;;) {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char *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if 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osMessageQueueGet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printQueueHandle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&amp;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NULL, </a:t>
            </a:r>
          </a:p>
          <a:p>
            <a:pPr rtl="0">
              <a:buNone/>
            </a:pP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osWaitForever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==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osOK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rtl="0">
              <a:buNone/>
            </a:pPr>
            <a:endParaRPr lang="en-IN" sz="1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HAL_UART_Transmit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(&amp;huart2, (uint8_t*)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100);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vPortFree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                                    // Free memory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1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sz="1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438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9F9B3-F229-517C-8EE8-96B5F936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7830-2231-CC7B-4F0C-6203D124A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28940" y="734053"/>
            <a:ext cx="7635712" cy="5389893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developed an automatic railway level crossing gate system using the powerful STM32H7 microcontroller on the Nucleo-H753ZI board. By integrating IR sensors for train detection, ultrasonic sensors for obstacle safety, servo motors for gate control, and LEDs/buzzers for clear feedback, we eliminated human error and enhanced safety. We implemented two versions: a bare-metal (non-RTOS) design with tick-based non-blocking timing, and a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version with true multitasking, independent gate pauses, event flags, mutexes, and thread-safe logging. The RTOS version provides better real-time performance, concurrency, and scalability. The system works reliably for </a:t>
            </a:r>
            <a:r>
              <a:rPr lang="en-IN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demotoy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trains, with smooth movement, obstacle handling, and detailed UART monitoring.</a:t>
            </a:r>
          </a:p>
          <a:p>
            <a:pPr>
              <a:buNone/>
            </a:pP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Perspectives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with AI for predictive maintenance, sensor fault detection, IoT remote monitoring, and cloud alerts for enhanced reliability and smart railway integration.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CB0F9-DF19-1F5B-CE5D-FA46B6FEAA1B}"/>
              </a:ext>
            </a:extLst>
          </p:cNvPr>
          <p:cNvSpPr txBox="1"/>
          <p:nvPr/>
        </p:nvSpPr>
        <p:spPr>
          <a:xfrm>
            <a:off x="2321351" y="3258870"/>
            <a:ext cx="440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496007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792" y="2558726"/>
            <a:ext cx="7156415" cy="1740548"/>
          </a:xfrm>
        </p:spPr>
        <p:txBody>
          <a:bodyPr anchor="ctr"/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7EF0A5-8CE3-D8F8-CD44-3887ACBC88FF}"/>
              </a:ext>
            </a:extLst>
          </p:cNvPr>
          <p:cNvSpPr txBox="1"/>
          <p:nvPr/>
        </p:nvSpPr>
        <p:spPr>
          <a:xfrm>
            <a:off x="2297440" y="3244334"/>
            <a:ext cx="440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LW_V0" id="{9BD71EDD-469E-4D4E-A40A-B14F6807FCBA}" vid="{17CDA7A4-B369-430D-9DFB-4C96400196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C2A85E2-5219-4B5F-9D52-D97CA94AA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C14155-A57F-48FA-B253-A79CB6269D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316C43-4A17-4971-BB8F-F0F6B8CDF2E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Fair frames presentation</Template>
  <TotalTime>264</TotalTime>
  <Words>3948</Words>
  <Application>Microsoft Office PowerPoint</Application>
  <PresentationFormat>Widescreen</PresentationFormat>
  <Paragraphs>422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Gill Sans MT</vt:lpstr>
      <vt:lpstr>Times New Roman</vt:lpstr>
      <vt:lpstr>Wingdings</vt:lpstr>
      <vt:lpstr>Parcel</vt:lpstr>
      <vt:lpstr>RTOS - Based Railway Crossing Automation System  </vt:lpstr>
      <vt:lpstr>AGENDA</vt:lpstr>
      <vt:lpstr>Introduction</vt:lpstr>
      <vt:lpstr>Hardware and Software components</vt:lpstr>
      <vt:lpstr>Nucleo - STM32H753ZI</vt:lpstr>
      <vt:lpstr>LED and Buzzer</vt:lpstr>
      <vt:lpstr>LED and Buzzer</vt:lpstr>
      <vt:lpstr>LED and Buzzer</vt:lpstr>
      <vt:lpstr>IR sensor</vt:lpstr>
      <vt:lpstr>IR sensor</vt:lpstr>
      <vt:lpstr>IR sensor</vt:lpstr>
      <vt:lpstr>Ultrasonic sensor</vt:lpstr>
      <vt:lpstr>Ultrasonic sensor</vt:lpstr>
      <vt:lpstr>Ultrasonic sensor</vt:lpstr>
      <vt:lpstr>Servo Motor</vt:lpstr>
      <vt:lpstr>Servo Motor</vt:lpstr>
      <vt:lpstr>Servo Motor</vt:lpstr>
      <vt:lpstr>Without RTOS </vt:lpstr>
      <vt:lpstr>Without RTOS </vt:lpstr>
      <vt:lpstr>Without RTOS </vt:lpstr>
      <vt:lpstr>With RTOS </vt:lpstr>
      <vt:lpstr>With RTOS </vt:lpstr>
      <vt:lpstr>With RTOS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konakalla vivek</dc:creator>
  <cp:lastModifiedBy>konakalla vivek</cp:lastModifiedBy>
  <cp:revision>2</cp:revision>
  <dcterms:created xsi:type="dcterms:W3CDTF">2026-01-21T16:15:19Z</dcterms:created>
  <dcterms:modified xsi:type="dcterms:W3CDTF">2026-01-30T09:42:16Z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